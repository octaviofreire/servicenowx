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ServiceNowX — Análise Arquitetural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Aula 06 • Requisitos, alternativas, matriz e decisão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Arquitetura atual identificada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O código já apresenta características claras de Arquitetura em Camadas.</a:t>
            </a:r>
          </a:p>
          <a:p>
            <a:pPr>
              <a:spcAft>
                <a:spcPts val="800"/>
              </a:spcAft>
              <a:defRPr sz="2000"/>
            </a:pPr>
            <a:r>
              <a:t>Domínio: model/Ticket, Technician e SlaPolicy.</a:t>
            </a:r>
          </a:p>
          <a:p>
            <a:pPr>
              <a:spcAft>
                <a:spcPts val="800"/>
              </a:spcAft>
              <a:defRPr sz="2000"/>
            </a:pPr>
            <a:r>
              <a:t>Serviços: service/ServiceDeskService.</a:t>
            </a:r>
          </a:p>
          <a:p>
            <a:pPr>
              <a:spcAft>
                <a:spcPts val="800"/>
              </a:spcAft>
              <a:defRPr sz="2000"/>
            </a:pPr>
            <a:r>
              <a:t>Persistência: repository/InMemoryRepository.</a:t>
            </a:r>
          </a:p>
          <a:p>
            <a:pPr>
              <a:spcAft>
                <a:spcPts val="800"/>
              </a:spcAft>
              <a:defRPr sz="2000"/>
            </a:pPr>
            <a:r>
              <a:t>Integrações: legacy e patterns/adapter.</a:t>
            </a:r>
          </a:p>
          <a:p>
            <a:pPr>
              <a:spcAft>
                <a:spcPts val="800"/>
              </a:spcAft>
              <a:defRPr sz="2000"/>
            </a:pPr>
            <a:r>
              <a:t>Patterns complementares: Strategy, Factory, Observer e Facade.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Evidência no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ServiceDeskService concentra as regras do ciclo do chamado: abertura, SLA, atribuição, resolução e escalonamento.</a:t>
            </a:r>
          </a:p>
          <a:p>
            <a:pPr>
              <a:spcAft>
                <a:spcPts val="800"/>
              </a:spcAft>
              <a:defRPr sz="1800"/>
            </a:pPr>
            <a:r>
              <a:t>AssignmentService encapsula a seleção de técnicos e filtra técnicos disponíveis.</a:t>
            </a:r>
          </a:p>
          <a:p>
            <a:pPr>
              <a:spcAft>
                <a:spcPts val="800"/>
              </a:spcAft>
              <a:defRPr sz="1800"/>
            </a:pPr>
            <a:r>
              <a:t>InMemoryRepository concentra o armazenamento dos objetos.</a:t>
            </a:r>
          </a:p>
          <a:p>
            <a:pPr>
              <a:spcAft>
                <a:spcPts val="800"/>
              </a:spcAft>
              <a:defRPr sz="1800"/>
            </a:pPr>
            <a:r>
              <a:t>DirectoryAdapter e VendorSupportAdapter isolam APIs legadas.</a:t>
            </a:r>
          </a:p>
          <a:p>
            <a:pPr>
              <a:spcAft>
                <a:spcPts val="800"/>
              </a:spcAft>
              <a:defRPr sz="1800"/>
            </a:pPr>
            <a:r>
              <a:t>ServiceDeskServiceTest demonstra que as regras podem ser testadas diretamente.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Requisitos funcionais relevantes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RF02 — calcular SLA usando a prioridade e o openedAt real.</a:t>
            </a:r>
          </a:p>
          <a:p>
            <a:pPr>
              <a:spcAft>
                <a:spcPts val="800"/>
              </a:spcAft>
              <a:defRPr sz="2000"/>
            </a:pPr>
            <a:r>
              <a:t>RF05 — controlar disponibilidade do técnico.</a:t>
            </a:r>
          </a:p>
          <a:p>
            <a:pPr>
              <a:spcAft>
                <a:spcPts val="800"/>
              </a:spcAft>
              <a:defRPr sz="2000"/>
            </a:pPr>
            <a:r>
              <a:t>RF06 — controlar activeTickets.</a:t>
            </a:r>
          </a:p>
          <a:p>
            <a:pPr>
              <a:spcAft>
                <a:spcPts val="800"/>
              </a:spcAft>
              <a:defRPr sz="2000"/>
            </a:pPr>
            <a:r>
              <a:t>RF07 — impedir resolução sem técnico atribuído.</a:t>
            </a:r>
          </a:p>
          <a:p>
            <a:pPr>
              <a:spcAft>
                <a:spcPts val="800"/>
              </a:spcAft>
              <a:defRPr sz="2000"/>
            </a:pPr>
            <a:r>
              <a:t>RF10 — publicar eventos do ciclo do chamado.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Requisitos não funcionais relevantes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RNF03 — testes automatizados com JUnit 5.</a:t>
            </a:r>
          </a:p>
          <a:p>
            <a:pPr>
              <a:spcAft>
                <a:spcPts val="800"/>
              </a:spcAft>
              <a:defRPr sz="2000"/>
            </a:pPr>
            <a:r>
              <a:t>RNF04 — cálculo de SLA determinístico.</a:t>
            </a:r>
          </a:p>
          <a:p>
            <a:pPr>
              <a:spcAft>
                <a:spcPts val="800"/>
              </a:spcAft>
              <a:defRPr sz="2000"/>
            </a:pPr>
            <a:r>
              <a:t>RNF05 — consistência do estado dos técnicos.</a:t>
            </a:r>
          </a:p>
          <a:p>
            <a:pPr>
              <a:spcAft>
                <a:spcPts val="800"/>
              </a:spcAft>
              <a:defRPr sz="2000"/>
            </a:pPr>
            <a:r>
              <a:t>RNF07 — separação de responsabilidades.</a:t>
            </a:r>
          </a:p>
          <a:p>
            <a:pPr>
              <a:spcAft>
                <a:spcPts val="800"/>
              </a:spcAft>
              <a:defRPr sz="2000"/>
            </a:pPr>
            <a:r>
              <a:t>RNF08 — regras testáveis sem interface.</a:t>
            </a:r>
          </a:p>
          <a:p>
            <a:pPr>
              <a:spcAft>
                <a:spcPts val="800"/>
              </a:spcAft>
              <a:defRPr sz="2000"/>
            </a:pPr>
            <a:r>
              <a:t>RNF10 — compilação e testes antes da entrega.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Problema / ponto de evolução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A documentação anterior não registrava claramente a arquitetura, alternativas, critérios e evidências.</a:t>
            </a:r>
          </a:p>
          <a:p>
            <a:pPr>
              <a:spcAft>
                <a:spcPts val="800"/>
              </a:spcAft>
              <a:defRPr sz="1900"/>
            </a:pPr>
            <a:r>
              <a:t>ServiceDeskService ainda coordena muitas responsabilidades e instancia APIs legadas diretamente.</a:t>
            </a:r>
          </a:p>
          <a:p>
            <a:pPr>
              <a:spcAft>
                <a:spcPts val="800"/>
              </a:spcAft>
              <a:defRPr sz="1900"/>
            </a:pPr>
            <a:r>
              <a:t>Isso pode aumentar o acoplamento quando o sistema crescer.</a:t>
            </a:r>
          </a:p>
          <a:p>
            <a:pPr>
              <a:spcAft>
                <a:spcPts val="800"/>
              </a:spcAft>
              <a:defRPr sz="1900"/>
            </a:pPr>
            <a:r>
              <a:t>A proposta é reforçar as fronteiras existentes, sem adicionar complexidade desnecessária.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Alternativas analisadas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A — Arquitetura em Camadas: manter e formalizar a estrutura já existente.</a:t>
            </a:r>
          </a:p>
          <a:p>
            <a:pPr>
              <a:spcAft>
                <a:spcPts val="800"/>
              </a:spcAft>
              <a:defRPr sz="2000"/>
            </a:pPr>
            <a:r>
              <a:t>B — Monolítico simples: uma aplicação única sem fronteiras explícitas.</a:t>
            </a:r>
          </a:p>
          <a:p>
            <a:pPr>
              <a:spcAft>
                <a:spcPts val="800"/>
              </a:spcAft>
              <a:defRPr sz="2000"/>
            </a:pPr>
            <a:r>
              <a:t>C — Microserviços: dividir responsabilidades em serviços independentes.</a:t>
            </a:r>
          </a:p>
          <a:p>
            <a:pPr>
              <a:spcAft>
                <a:spcPts val="800"/>
              </a:spcAft>
              <a:defRPr sz="2000"/>
            </a:pPr>
            <a:r>
              <a:t>A comparação considera domínio, separação, simplicidade, testes e evolução.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Matriz de decisão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Pesos: aderência 3; separação 3; simplicidade 3; testabilidade 2; evolução 2.</a:t>
            </a:r>
          </a:p>
          <a:p>
            <a:pPr>
              <a:spcAft>
                <a:spcPts val="800"/>
              </a:spcAft>
              <a:defRPr sz="2000"/>
            </a:pPr>
            <a:r>
              <a:t>Camadas: 63 pontos.</a:t>
            </a:r>
          </a:p>
          <a:p>
            <a:pPr>
              <a:spcAft>
                <a:spcPts val="800"/>
              </a:spcAft>
              <a:defRPr sz="2000"/>
            </a:pPr>
            <a:r>
              <a:t>Monolítico simples: 45 pontos.</a:t>
            </a:r>
          </a:p>
          <a:p>
            <a:pPr>
              <a:spcAft>
                <a:spcPts val="800"/>
              </a:spcAft>
              <a:defRPr sz="2000"/>
            </a:pPr>
            <a:r>
              <a:t>Microserviços: 43 pontos.</a:t>
            </a:r>
          </a:p>
          <a:p>
            <a:pPr>
              <a:spcAft>
                <a:spcPts val="800"/>
              </a:spcAft>
              <a:defRPr sz="2000"/>
            </a:pPr>
            <a:r>
              <a:t>A pontuação é uma orientação; a decisão também considera custo, risco e contexto.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Por que escolhemos Arquitetura em Camadas?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É a alternativa mais aderente ao código real do ServiceNowX.</a:t>
            </a:r>
          </a:p>
          <a:p>
            <a:pPr>
              <a:spcAft>
                <a:spcPts val="800"/>
              </a:spcAft>
              <a:defRPr sz="2000"/>
            </a:pPr>
            <a:r>
              <a:t>Preserva uma única aplicação e exige pouca mudança estrutural.</a:t>
            </a:r>
          </a:p>
          <a:p>
            <a:pPr>
              <a:spcAft>
                <a:spcPts val="800"/>
              </a:spcAft>
              <a:defRPr sz="2000"/>
            </a:pPr>
            <a:r>
              <a:t>Mantém domínio, serviços, persistência e integrações separados.</a:t>
            </a:r>
          </a:p>
          <a:p>
            <a:pPr>
              <a:spcAft>
                <a:spcPts val="800"/>
              </a:spcAft>
              <a:defRPr sz="2000"/>
            </a:pPr>
            <a:r>
              <a:t>Facilita testes JUnit das regras de SLA, atribuição e resolução.</a:t>
            </a:r>
          </a:p>
          <a:p>
            <a:pPr>
              <a:spcAft>
                <a:spcPts val="800"/>
              </a:spcAft>
              <a:defRPr sz="2000"/>
            </a:pPr>
            <a:r>
              <a:t>Evita o custo operacional de microserviços sem necessidade comprovada.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RNF × 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RNF05 → model + service: o estado de Technician é controlado pelas regras de atendimento.</a:t>
            </a:r>
          </a:p>
          <a:p>
            <a:pPr>
              <a:spcAft>
                <a:spcPts val="800"/>
              </a:spcAft>
              <a:defRPr sz="1900"/>
            </a:pPr>
            <a:r>
              <a:t>RNF07 → model/service/repository/patterns/legacy: responsabilidades separadas por pacote.</a:t>
            </a:r>
          </a:p>
          <a:p>
            <a:pPr>
              <a:spcAft>
                <a:spcPts val="800"/>
              </a:spcAft>
              <a:defRPr sz="1900"/>
            </a:pPr>
            <a:r>
              <a:t>RNF08 → service + test: regras executadas sem interface.</a:t>
            </a:r>
          </a:p>
          <a:p>
            <a:pPr>
              <a:spcAft>
                <a:spcPts val="800"/>
              </a:spcAft>
              <a:defRPr sz="1900"/>
            </a:pPr>
            <a:r>
              <a:t>RNF10 → Maven + testes: a entrega pode ser verificada antes do merge.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Ganho: organização, manutenção e testabilidade com baixo custo operacional.</a:t>
            </a:r>
          </a:p>
          <a:p>
            <a:pPr>
              <a:spcAft>
                <a:spcPts val="800"/>
              </a:spcAft>
              <a:defRPr sz="2000"/>
            </a:pPr>
            <a:r>
              <a:t>Custo: não permite escalar cada componente de forma independente como microserviços.</a:t>
            </a:r>
          </a:p>
          <a:p>
            <a:pPr>
              <a:spcAft>
                <a:spcPts val="800"/>
              </a:spcAft>
              <a:defRPr sz="2000"/>
            </a:pPr>
            <a:r>
              <a:t>Risco aceito: se o sistema crescer muito, pode ser necessário evoluir algumas partes.</a:t>
            </a:r>
          </a:p>
          <a:p>
            <a:pPr>
              <a:spcAft>
                <a:spcPts val="800"/>
              </a:spcAft>
              <a:defRPr sz="2000"/>
            </a:pPr>
            <a:r>
              <a:t>Decisão: o benefício atual da simplicidade supera a necessidade de distribuição.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Arquitetura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Entrada → Main / ServiceNowXFacade</a:t>
            </a:r>
          </a:p>
          <a:p>
            <a:pPr>
              <a:spcAft>
                <a:spcPts val="800"/>
              </a:spcAft>
              <a:defRPr sz="2000"/>
            </a:pPr>
            <a:r>
              <a:t>Aplicação → ServiceDeskService / AssignmentService</a:t>
            </a:r>
          </a:p>
          <a:p>
            <a:pPr>
              <a:spcAft>
                <a:spcPts val="800"/>
              </a:spcAft>
              <a:defRPr sz="2000"/>
            </a:pPr>
            <a:r>
              <a:t>Domínio → Ticket / Technician / SlaPolicy</a:t>
            </a:r>
          </a:p>
          <a:p>
            <a:pPr>
              <a:spcAft>
                <a:spcPts val="800"/>
              </a:spcAft>
              <a:defRPr sz="2000"/>
            </a:pPr>
            <a:r>
              <a:t>Persistência → InMemoryRepository</a:t>
            </a:r>
          </a:p>
          <a:p>
            <a:pPr>
              <a:spcAft>
                <a:spcPts val="800"/>
              </a:spcAft>
              <a:defRPr sz="2000"/>
            </a:pPr>
            <a:r>
              <a:t>Integrações → Adapters / APIs legadas</a:t>
            </a:r>
          </a:p>
          <a:p>
            <a:pPr>
              <a:spcAft>
                <a:spcPts val="800"/>
              </a:spcAft>
              <a:defRPr sz="2000"/>
            </a:pPr>
            <a:r>
              <a:t>Eventos → Observer / TicketPublisher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Identificamos a arquitetura atual com evidências do código.</a:t>
            </a:r>
          </a:p>
          <a:p>
            <a:pPr>
              <a:spcAft>
                <a:spcPts val="800"/>
              </a:spcAft>
              <a:defRPr sz="2000"/>
            </a:pPr>
            <a:r>
              <a:t>Relacionamos RFs e RNFs às partes concretas do sistema.</a:t>
            </a:r>
          </a:p>
          <a:p>
            <a:pPr>
              <a:spcAft>
                <a:spcPts val="800"/>
              </a:spcAft>
              <a:defRPr sz="2000"/>
            </a:pPr>
            <a:r>
              <a:t>Comparamos três alternativas e justificamos todas as notas.</a:t>
            </a:r>
          </a:p>
          <a:p>
            <a:pPr>
              <a:spcAft>
                <a:spcPts val="800"/>
              </a:spcAft>
              <a:defRPr sz="2000"/>
            </a:pPr>
            <a:r>
              <a:t>Escolhemos manter/formalizar Arquitetura em Camadas.</a:t>
            </a:r>
          </a:p>
          <a:p>
            <a:pPr>
              <a:spcAft>
                <a:spcPts val="800"/>
              </a:spcAft>
              <a:defRPr sz="2000"/>
            </a:pPr>
            <a:r>
              <a:t>A decisão é adequada ao ServiceNowX neste momento e permite evolução futura.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